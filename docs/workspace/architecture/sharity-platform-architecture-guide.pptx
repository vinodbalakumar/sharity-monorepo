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e8839fd342d42e4" /><Relationship Type="http://schemas.openxmlformats.org/officeDocument/2006/relationships/extended-properties" Target="/docProps/app.xml" Id="R43b0185a5354475c" /><Relationship Type="http://schemas.openxmlformats.org/officeDocument/2006/relationships/officeDocument" Target="/ppt/presentation.xml" Id="R1b0f058c1fc04cb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2b47d7e7c06452f"/>
  </p:sldMasterIdLst>
  <p:notesMasterIdLst>
    <p:notesMasterId xmlns:r="http://schemas.openxmlformats.org/officeDocument/2006/relationships" r:id="R274ba9dc1c6a49b1"/>
  </p:notesMasterIdLst>
  <p:sldIdLst>
    <p:sldId xmlns:r="http://schemas.openxmlformats.org/officeDocument/2006/relationships" id="256" r:id="Rc18cacc8490e4acc"/>
    <p:sldId xmlns:r="http://schemas.openxmlformats.org/officeDocument/2006/relationships" id="257" r:id="R47e392ed430c42eb"/>
    <p:sldId xmlns:r="http://schemas.openxmlformats.org/officeDocument/2006/relationships" id="258" r:id="Rf5f65dede7324ee3"/>
    <p:sldId xmlns:r="http://schemas.openxmlformats.org/officeDocument/2006/relationships" id="259" r:id="R53a301a931764970"/>
    <p:sldId xmlns:r="http://schemas.openxmlformats.org/officeDocument/2006/relationships" id="260" r:id="Rb8589cc7f06d4b86"/>
    <p:sldId xmlns:r="http://schemas.openxmlformats.org/officeDocument/2006/relationships" id="261" r:id="R9cda1b3271454389"/>
    <p:sldId xmlns:r="http://schemas.openxmlformats.org/officeDocument/2006/relationships" id="262" r:id="Rce985e604f1840bf"/>
    <p:sldId xmlns:r="http://schemas.openxmlformats.org/officeDocument/2006/relationships" id="263" r:id="Re62917e866064476"/>
    <p:sldId xmlns:r="http://schemas.openxmlformats.org/officeDocument/2006/relationships" id="264" r:id="R6cae7cf7916c4c32"/>
    <p:sldId xmlns:r="http://schemas.openxmlformats.org/officeDocument/2006/relationships" id="265" r:id="R0f7591f8d42c4865"/>
    <p:sldId xmlns:r="http://schemas.openxmlformats.org/officeDocument/2006/relationships" id="266" r:id="R68a3e36a4a444c51"/>
    <p:sldId xmlns:r="http://schemas.openxmlformats.org/officeDocument/2006/relationships" id="267" r:id="Rcee540b78f9441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0152ce21de41e9" /><Relationship Type="http://schemas.openxmlformats.org/officeDocument/2006/relationships/slideMaster" Target="/ppt/slideMasters/slideMaster1.xml" Id="Re2b47d7e7c06452f" /><Relationship Type="http://schemas.openxmlformats.org/officeDocument/2006/relationships/notesMaster" Target="/ppt/notesMasters/notesMaster1.xml" Id="R274ba9dc1c6a49b1" /><Relationship Type="http://schemas.openxmlformats.org/officeDocument/2006/relationships/presProps" Target="/ppt/presProps.xml" Id="R84edefdc61584155" /><Relationship Type="http://schemas.openxmlformats.org/officeDocument/2006/relationships/tableStyles" Target="/ppt/tableStyles.xml" Id="R9c80cdd61de048af" /><Relationship Type="http://schemas.openxmlformats.org/officeDocument/2006/relationships/slide" Target="/ppt/slides/slide1.xml" Id="Rc18cacc8490e4acc" /><Relationship Type="http://schemas.openxmlformats.org/officeDocument/2006/relationships/slide" Target="/ppt/slides/slide2.xml" Id="R47e392ed430c42eb" /><Relationship Type="http://schemas.openxmlformats.org/officeDocument/2006/relationships/slide" Target="/ppt/slides/slide3.xml" Id="Rf5f65dede7324ee3" /><Relationship Type="http://schemas.openxmlformats.org/officeDocument/2006/relationships/slide" Target="/ppt/slides/slide4.xml" Id="R53a301a931764970" /><Relationship Type="http://schemas.openxmlformats.org/officeDocument/2006/relationships/slide" Target="/ppt/slides/slide5.xml" Id="Rb8589cc7f06d4b86" /><Relationship Type="http://schemas.openxmlformats.org/officeDocument/2006/relationships/slide" Target="/ppt/slides/slide6.xml" Id="R9cda1b3271454389" /><Relationship Type="http://schemas.openxmlformats.org/officeDocument/2006/relationships/slide" Target="/ppt/slides/slide7.xml" Id="Rce985e604f1840bf" /><Relationship Type="http://schemas.openxmlformats.org/officeDocument/2006/relationships/slide" Target="/ppt/slides/slide8.xml" Id="Re62917e866064476" /><Relationship Type="http://schemas.openxmlformats.org/officeDocument/2006/relationships/slide" Target="/ppt/slides/slide9.xml" Id="R6cae7cf7916c4c32" /><Relationship Type="http://schemas.openxmlformats.org/officeDocument/2006/relationships/slide" Target="/ppt/slides/slide10.xml" Id="R0f7591f8d42c4865" /><Relationship Type="http://schemas.openxmlformats.org/officeDocument/2006/relationships/slide" Target="/ppt/slides/slide11.xml" Id="R68a3e36a4a444c51" /><Relationship Type="http://schemas.openxmlformats.org/officeDocument/2006/relationships/slide" Target="/ppt/slides/slide12.xml" Id="Rcee540b78f9441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0da086369e45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d898977a6741b6" /><Relationship Type="http://schemas.openxmlformats.org/officeDocument/2006/relationships/notesMaster" Target="/ppt/notesMasters/notesMaster1.xml" Id="R42b052573faf425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06b09cff8274088" /><Relationship Type="http://schemas.openxmlformats.org/officeDocument/2006/relationships/notesMaster" Target="/ppt/notesMasters/notesMaster1.xml" Id="R7f1e7dbc50e94e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a1d5226ba5e4bb7" /><Relationship Type="http://schemas.openxmlformats.org/officeDocument/2006/relationships/notesMaster" Target="/ppt/notesMasters/notesMaster1.xml" Id="R8f5b04789b6b4db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32b47cdb93480d" /><Relationship Type="http://schemas.openxmlformats.org/officeDocument/2006/relationships/notesMaster" Target="/ppt/notesMasters/notesMaster1.xml" Id="Ra9007c8edebe400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7baf72a2e3b4d67" /><Relationship Type="http://schemas.openxmlformats.org/officeDocument/2006/relationships/notesMaster" Target="/ppt/notesMasters/notesMaster1.xml" Id="R44975407b4cf46f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8169ffc095746ef" /><Relationship Type="http://schemas.openxmlformats.org/officeDocument/2006/relationships/notesMaster" Target="/ppt/notesMasters/notesMaster1.xml" Id="Rbffae21eebf9446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f52caa239446f3" /><Relationship Type="http://schemas.openxmlformats.org/officeDocument/2006/relationships/notesMaster" Target="/ppt/notesMasters/notesMaster1.xml" Id="Rb5d3c6b668f04d1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b22d69a3db044fb" /><Relationship Type="http://schemas.openxmlformats.org/officeDocument/2006/relationships/notesMaster" Target="/ppt/notesMasters/notesMaster1.xml" Id="R5bd90fb4205a487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aff82e930594775" /><Relationship Type="http://schemas.openxmlformats.org/officeDocument/2006/relationships/notesMaster" Target="/ppt/notesMasters/notesMaster1.xml" Id="R071950cae42d443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9badecafdf4917" /><Relationship Type="http://schemas.openxmlformats.org/officeDocument/2006/relationships/notesMaster" Target="/ppt/notesMasters/notesMaster1.xml" Id="R5cea5ae3abb4449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7b62ac615224cff" /><Relationship Type="http://schemas.openxmlformats.org/officeDocument/2006/relationships/notesMaster" Target="/ppt/notesMasters/notesMaster1.xml" Id="R737c624adaef436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04a668c1aea427b" /><Relationship Type="http://schemas.openxmlformats.org/officeDocument/2006/relationships/notesMaster" Target="/ppt/notesMasters/notesMaster1.xml" Id="R4248ad04360143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e50230c880148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0095ae91d74fef" /><Relationship Type="http://schemas.openxmlformats.org/officeDocument/2006/relationships/slideLayout" Target="/ppt/slideLayouts/slideLayout1.xml" Id="R4bd01c03a87d449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bd01c03a87d449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3da71ea394aa8" /><Relationship Type="http://schemas.openxmlformats.org/officeDocument/2006/relationships/notesSlide" Target="/ppt/notesSlides/notesSlide1.xml" Id="Raf05939ce955404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211c9f92384cbe" /><Relationship Type="http://schemas.openxmlformats.org/officeDocument/2006/relationships/notesSlide" Target="/ppt/notesSlides/notesSlide2.xml" Id="R893ef89ebc454f4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a014e83c5a4619" /><Relationship Type="http://schemas.openxmlformats.org/officeDocument/2006/relationships/notesSlide" Target="/ppt/notesSlides/notesSlide3.xml" Id="R0409701135d1426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2c60146f234f40" /><Relationship Type="http://schemas.openxmlformats.org/officeDocument/2006/relationships/notesSlide" Target="/ppt/notesSlides/notesSlide4.xml" Id="R7c9b16422a2c47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6b8b2835914cdc" /><Relationship Type="http://schemas.openxmlformats.org/officeDocument/2006/relationships/notesSlide" Target="/ppt/notesSlides/notesSlide5.xml" Id="Rbffbd06b768247a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b79f4a86f04cd3" /><Relationship Type="http://schemas.openxmlformats.org/officeDocument/2006/relationships/notesSlide" Target="/ppt/notesSlides/notesSlide6.xml" Id="R7967d162c460480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aa03dc1bc47bf" /><Relationship Type="http://schemas.openxmlformats.org/officeDocument/2006/relationships/notesSlide" Target="/ppt/notesSlides/notesSlide7.xml" Id="R9c59a38d53de462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f83fd356674206" /><Relationship Type="http://schemas.openxmlformats.org/officeDocument/2006/relationships/notesSlide" Target="/ppt/notesSlides/notesSlide8.xml" Id="R58e7c5b2632a417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60493ea06846de" /><Relationship Type="http://schemas.openxmlformats.org/officeDocument/2006/relationships/notesSlide" Target="/ppt/notesSlides/notesSlide9.xml" Id="R1ceb56a3886f45e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f35e1a23b6431c" /><Relationship Type="http://schemas.openxmlformats.org/officeDocument/2006/relationships/notesSlide" Target="/ppt/notesSlides/notesSlide10.xml" Id="Rcf1e5578853c43d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61aaf4873f498e" /><Relationship Type="http://schemas.openxmlformats.org/officeDocument/2006/relationships/notesSlide" Target="/ppt/notesSlides/notesSlide11.xml" Id="R56283b4a9131407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6e250331d143aa" /><Relationship Type="http://schemas.openxmlformats.org/officeDocument/2006/relationships/notesSlide" Target="/ppt/notesSlides/notesSlide12.xml" Id="Ra1d66dc0443c4dc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BF678-41C8-433D-8F70-24870F028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Sharity platform guide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C57273-51A1-4AAB-A983-C4F3C739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57250"/>
            <a:ext cx="647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Sharity Platform</a:t>
            </a:r>
          </a:p>
          <a:p xmlns:a="http://schemas.openxmlformats.org/drawingml/2006/main">
            <a:pPr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Architecture and SRE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536A0-5D11-4445-9CEF-14D148210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A practical explanation of the web BFF, authorization server, marketplace, payment, wallet, and Sharity UI, with a setup flow that lets SREs bootstrap the stack without hunting through code.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BC7E32D-43C4-448B-8542-1E58605B3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876300"/>
            <a:ext cx="4000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F5566B-2254-43AE-9DD2-D578991C7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14300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11111"/>
                </a:solidFill>
              </a:defRPr>
            </a:pPr>
            <a:r>
              <a:rPr sz="1500" b="1">
                <a:solidFill>
                  <a:srgbClr val="111111"/>
                </a:solidFill>
              </a:rPr>
              <a:t>What this deck covers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8D2827-1FF6-4022-A98D-808B5B728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19250"/>
            <a:ext cx="33337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1. What each component does</a:t>
            </a:r>
          </a:p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2. How browser login and checkout flow end to end</a:t>
            </a:r>
          </a:p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3. Which env vars SRE must set</a:t>
            </a:r>
          </a:p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4. Example runtime and verification steps</a:t>
            </a:r>
          </a:p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5. Operational guardrails: tokens, cookies, ledger projection, and wallet events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BA911E-F033-466C-9D94-A9116F20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67200"/>
            <a:ext cx="4000500" cy="1390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DF5D88-EB4D-41F1-9209-071A1325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1485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Runtime rule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CD85A3-724F-40ED-9F1F-664832730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838700"/>
            <a:ext cx="333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666666"/>
                </a:solidFill>
              </a:defRPr>
            </a:pPr>
            <a:r>
              <a:rPr sz="1050">
                <a:solidFill>
                  <a:srgbClr val="666666"/>
                </a:solidFill>
              </a:rPr>
              <a:t>GitHub environment variables or deployment secrets should provide runtime config. The application code should stay portable across local, QA, and production.</a:t>
            </a:r>
          </a:p>
        </p:txBody>
      </p:sp>
    </p:spTree>
    <p:extLst>
      <p:ext uri="{BB962C8B-B14F-4D97-AF65-F5344CB8AC3E}">
        <p14:creationId xmlns:p14="http://schemas.microsoft.com/office/powerpoint/2010/main" val="9084259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E60201-24E0-4005-9EE1-409BADFB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System map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1413E0-D280-4A9A-B99F-D38453D65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All components and their roles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C71C12-C264-47AC-B766-CD7EB482A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Use this as the “who owns what” page. Each box points to a service boundary, not just a code module.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F186AD-1CAA-4EEE-8325-3F0BA6CEB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5F083B-21AE-40DE-BCF2-07D89ED1A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6E4E46-1156-4247-82F1-F0A345D0B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Web BFF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E73F70-4B2D-4042-8538-AA05A3B1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Owns browser sessions, stores tokens server-side, and proxies authenticated API calls for the web app.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58E66-4FEE-4C18-BB63-45FD7F558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146685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14C9B1-D4BE-4526-8D38-EEC84ED92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002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Authorization server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0BBDAD-80EC-493C-B88F-48911EF1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9050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Owns login, email verification, JWT issuance, provider eligibility, and the BFF OAuth client.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BDAC6-BB44-4372-B208-6C661AC98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46685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87E75F-FD30-45AC-966E-2637F9C3C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6002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Marketplace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A5F76F7-9AB1-48DD-9C6B-C2A0C095B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050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Owns listings, categories, search, checkout, order lifecycle, delivery, and disputes.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9C7240-BD29-4232-9DAA-78124390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085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82F5C0-9DE1-4AB6-AAA1-708974149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242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Payment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EEBB36-757D-40AA-994A-8FABD3DB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290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Owns payment orders, payout hold/release, refunds, webhook handling, and wallet event emission.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EA21B5F-79D2-4CB8-990B-CC71E31F0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299085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1101CF-AAEB-48A5-A1B0-3B863AFB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1242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Wallet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D2484A-4AE0-4942-A992-14ABDC09F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4290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Owns ledger projections, balance snapshots, and idempotent ingestion of payment events.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975057-D9F1-46DC-AE40-13B127BCE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90850"/>
            <a:ext cx="3333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8A6A79-C44A-4719-8F65-08426169E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124200"/>
            <a:ext cx="2990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Sharity UI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EC80C5-88FD-4BAF-9B5A-CF403AFD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429000"/>
            <a:ext cx="29908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Owns the Expo React Native and React Native Web experience that end users see.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D7255E-E98E-4F1A-99C0-5E560E39B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73B2E-EBE4-4AE7-AFF7-65988281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System map: browser entry points sit on the left; service-owned data boundaries and backend projections sit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3083612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EA532E-521C-43F2-A7FF-29476539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Browser auth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A82EF-CA59-477C-9003-18BCCFF3F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Login and session 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3A31C0-D7D7-4AFF-96FC-862E6BB3B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The key design point: the browser gets a session cookie, not long-lived OAuth tokens.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4AEA13-955C-49F7-ADFC-77D4E5E9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D70216-0505-4713-9392-FB23D6133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45DF745-3CFF-418F-B351-801E9EF14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669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1. Open app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39009A-1340-437B-9F5F-9E44E65B9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33600"/>
            <a:ext cx="1638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The user lands on the web app. The app asks the BFF to begin login when authentication is needed.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FE7B24-36A6-4ADF-B5DE-B1835BC75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2479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6666"/>
                </a:solidFill>
              </a:defRPr>
            </a:pPr>
            <a:r>
              <a:rPr sz="21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D40E09-1BC9-4D5F-9345-EA86AB3A9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48E22C-FA5C-46A1-A17E-A1B25FB83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8669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2. Start OAuth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E3C9609-409E-4CFD-A9DC-EAB0DAECD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33600"/>
            <a:ext cx="1638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The browser is redirected through the BFF login route. The BFF owns the OAuth/OIDC client secret.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E18A01-8F13-4521-B0DD-1E3FBB4A0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479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6666"/>
                </a:solidFill>
              </a:defRPr>
            </a:pPr>
            <a:r>
              <a:rPr sz="21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9EE435-E42F-4C76-A9CE-70AEB8C88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175260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111C9A-A6A0-4AFD-A67C-E3141E9F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8669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3. Verify identity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5C78E7-3B54-44C4-BD21-839964723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33600"/>
            <a:ext cx="1638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Users sign in, verify email, and receive an issued identity that maps to JWT claims and roles.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48CBB4-E225-47C2-82C7-CB411961B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247900"/>
            <a:ext cx="209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6666"/>
                </a:solidFill>
              </a:defRPr>
            </a:pPr>
            <a:r>
              <a:rPr sz="21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8936E7-F313-4BBE-B711-2D0B164F9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752600"/>
            <a:ext cx="1905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0E34E-63C1-4180-BB96-5121D639D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1866900"/>
            <a:ext cx="1638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4. Create session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4FE9DC2-498A-4423-9D7C-F75A3A855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133600"/>
            <a:ext cx="1638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The BFF stores tokens server-side and sets SHARITY_SESSION as HttpOnly, SameSite=Lax, and Secure in prod.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68B47C-E134-40C8-B988-74AB27622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71950"/>
            <a:ext cx="109728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866599-5415-4077-AF18-DD11A1EE6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6245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Why this is safer: the browser never keeps access tokens or refresh tokens in localStorage or other visible storage. The BFF becomes the only place that can call backend APIs with authenticated credentials.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E028D6-8AAB-41BF-BFF9-567AD44B9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B387F56-CD14-440E-B58E-BC550A6ED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Auth flow: browser session cookie on the outside, server-held tokens on the inside.</a:t>
            </a:r>
          </a:p>
        </p:txBody>
      </p:sp>
    </p:spTree>
    <p:extLst>
      <p:ext uri="{BB962C8B-B14F-4D97-AF65-F5344CB8AC3E}">
        <p14:creationId xmlns:p14="http://schemas.microsoft.com/office/powerpoint/2010/main" val="6040763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62B0F0-32E4-4DB9-8413-C67232117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Checkout path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20D76D-A270-44DA-BA60-87B6CB7A5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Browse to order to wallet projection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79D892-ECBA-4952-8CF7-16D1B9A0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This is the flow SREs should test after deployment because it crosses every runtime boundary.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D63EF3-F6C6-49A2-9875-E85FA7241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1A944BC-1DFD-4ABC-88FC-F3D217F57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681F97-9AEB-4B18-80C5-2B36B0512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764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Browse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883FF0-C349-4BE8-AA60-10296B91D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94310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Sharity UI loads marketplace data through the BFF or API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75C543-6110-44C2-95DE-2805CF03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019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6666"/>
                </a:solidFill>
              </a:defRPr>
            </a:pPr>
            <a:r>
              <a:rPr sz="21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0FBD9-B523-4C2C-B160-8CBE9D4CD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5621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DB3D76-B5C2-4F10-9679-9198F7259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6764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Select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0E065-8098-41E3-BB2B-F7DE417B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94310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Marketplace resolves category, listing, and eligibility context.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98DF96-D08A-4AF0-A18C-149113D2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019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6666"/>
                </a:solidFill>
              </a:defRPr>
            </a:pPr>
            <a:r>
              <a:rPr sz="21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D9E5C3-6EC0-4530-9F8B-3F6A42F64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621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DC2668-5E3E-433F-AAAD-3A7B5AA3A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6764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Checkout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2DAA31-AB1D-41C0-A47D-DE8B971FF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94310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Order creation happens in marketplace-service.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1204136-251F-4A49-849C-54543D841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19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6666"/>
                </a:solidFill>
              </a:defRPr>
            </a:pPr>
            <a:r>
              <a:rPr sz="21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9DA606-0A4B-40D8-BFA1-F9AF29C7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5621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3D3E73-E6DD-41E5-A43C-A8E95EF5E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764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Payment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1E2A53-79E3-4ABB-BCBD-9FB11A33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4310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payment-service creates the payment order and may hold payout.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655D2D-4ECB-41E0-8687-D04AA8B1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019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6666"/>
                </a:solidFill>
              </a:defRPr>
            </a:pPr>
            <a:r>
              <a:rPr sz="21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F6A0BA-0970-4EB3-815F-615D3986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621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2140EE-48FA-4490-8C98-09D699C8E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6764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Wallet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FC01F3-C75B-47FF-A804-F5D2501BC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194310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payment-service emits wallet events for the projection.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A2335EB-1FAC-43B4-9416-C8E76ECCC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0193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666666"/>
                </a:solidFill>
              </a:defRPr>
            </a:pPr>
            <a:r>
              <a:rPr sz="2100" b="1">
                <a:solidFill>
                  <a:srgbClr val="666666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2009D9-5E00-4ED9-8D4E-DD65B316F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1562100"/>
            <a:ext cx="1524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AA9C6-A2C0-476E-843D-2A7C8488A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676400"/>
            <a:ext cx="1257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11111"/>
                </a:solidFill>
              </a:defRPr>
            </a:pPr>
            <a:r>
              <a:rPr sz="1125" b="1">
                <a:solidFill>
                  <a:srgbClr val="111111"/>
                </a:solidFill>
              </a:rPr>
              <a:t>Confirm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46666C-C95C-4B2F-8172-B40365B39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194310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63">
                <a:solidFill>
                  <a:srgbClr val="666666"/>
                </a:solidFill>
              </a:defRPr>
            </a:pPr>
            <a:r>
              <a:rPr sz="863">
                <a:solidFill>
                  <a:srgbClr val="666666"/>
                </a:solidFill>
              </a:rPr>
              <a:t>The UI reflects the order, payment, and wallet state changes.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702B2B-A8B8-443E-8CA2-12C67DCA6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0"/>
            <a:ext cx="10972800" cy="140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465C1A-3F5E-4B18-8410-C153E37D5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0858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Example: a customer logs in, adds an item, checks out, and the marketplace calls payment-service to create the payment order. When payment is captured or a payout becomes eligible, payment-service emits wallet events. Wallet then records a ledger projection and balance snapshot. The user sees the outcome in the app, but the money-moving boundary stays inside payment.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3CD5BD3-D44F-480F-A719-63BA47C1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36BD845-65AC-4275-8A60-EC46B690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Commerce flow: marketplace owns the order, payment owns the transaction, wallet owns the projection.</a:t>
            </a:r>
          </a:p>
        </p:txBody>
      </p:sp>
    </p:spTree>
    <p:extLst>
      <p:ext uri="{BB962C8B-B14F-4D97-AF65-F5344CB8AC3E}">
        <p14:creationId xmlns:p14="http://schemas.microsoft.com/office/powerpoint/2010/main" val="56832291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C47CAE-4D21-4F6A-9F25-82F2B1BD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60FB51-CECC-4CA4-A752-66F3DAC10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Authorization server and web BFF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AD9A46-D792-40F2-9327-40C78CA67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These two services form the secure login front door for the browser experience.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0A11A7-B693-4966-A560-5AC4C9F48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B26913-C179-4BDD-99EB-49A6944ED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F1F7A5-D604-45BB-A877-61502C411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Authorization server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EDAECF-DF3F-4EE5-826A-F19EF07D0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8768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Role: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Central login, JWT issuer, provider eligibility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Module catalog and admin APIs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Runtime: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AUTH_DB_URL, AUTH_DB_USERNAME, AUTH_DB_PASSWORD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JWT_PRIVATE_KEY_PATH, JWT_PUBLIC_KEY_PATH, JWT_ISSUER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SRE notes: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Exposes the public issuer URL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Other services verify JWTs with the public key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Keep private signing keys backend-only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0BCFA73-1947-401F-9A53-35779DE6A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66850"/>
            <a:ext cx="51435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B44D49-CB20-4222-994E-14B9D521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0020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platform-web-bff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525F76-C627-4FB9-AED2-63D6174B6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05000"/>
            <a:ext cx="48006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Role: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Browser session owner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OAuth/OIDC client for sharity-web-bff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Authenticated reverse proxy for backend calls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Runtime: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SHARITY_WEB_BFF_CLIENT_ID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SHARITY_WEB_BFF_CLIENT_SECRET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AUTH_SERVER_BASE_URL, AUTH_SERVER_PUBLIC_BASE_URL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SHARITY_BFF_PUBLIC_BASE_URL, BFF_SESSION_COOKIE_SECURE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SRE notes: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Session cookie is HttpOnly and never exposes tokens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Nginx routes /bff/ and OAuth callback paths here</a:t>
            </a:r>
          </a:p>
          <a:p xmlns:a="http://schemas.openxmlformats.org/drawingml/2006/main">
            <a:pPr>
              <a:defRPr sz="930">
                <a:solidFill>
                  <a:srgbClr val="111111"/>
                </a:solidFill>
              </a:defRPr>
            </a:pPr>
            <a:r>
              <a:rPr sz="930">
                <a:solidFill>
                  <a:srgbClr val="111111"/>
                </a:solidFill>
              </a:rPr>
              <a:t>- Do not store tokens in browser storage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939000C-A623-481D-8A73-C52325A6A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2E0A08-3900-4FD0-83A2-88AF8EA3F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Operational rule: if login succeeds but data calls fail, check the BFF proxy targets and the authorization-server public/base URLs first. Most browser-auth issues come from mismatched callback URLs or missing secrets, not from the UI itself.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F92FF8A-F1B4-4D91-967B-7C8840A1C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6C3625-ECC3-4DC0-B359-BC1485A3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Auth/BFF detail: browser session safety is the main invariant.</a:t>
            </a:r>
          </a:p>
        </p:txBody>
      </p:sp>
    </p:spTree>
    <p:extLst>
      <p:ext uri="{BB962C8B-B14F-4D97-AF65-F5344CB8AC3E}">
        <p14:creationId xmlns:p14="http://schemas.microsoft.com/office/powerpoint/2010/main" val="7057454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35B3C-C8C0-4AD2-A3E3-B4783B39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Deep dive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D10DF0-3FE6-4501-AFE0-77A2D8831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Marketplace, payment, and wallet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45003-83BE-4496-A2E6-2A5C826D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These three services split commerce into discovery, transaction, and projection layers.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06CAB8-34D9-4651-8852-C65E846CE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73210C-EF7A-4CCA-9479-82F326495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543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9951B1-87E0-4C0C-B3E3-85F5A6F9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marketplace-service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5EDB1F-FBC3-42DF-A62B-8ED1B393B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20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Role: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Catalog, search, checkout, orders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Delivery, acceptance, disputes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Runtime: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MARKETPLACE_DB_URL, MARKETPLACE_DB_USERNAME, MARKETPLACE_DB_PASSWORD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JWT verifier and X-Internal-Service-Token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SRE notes: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Purchase creates a payment order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Acceptance requests payout eligibility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Keep public API data privacy-safe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EBF841-D634-4E7E-B0E4-45D6771B6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466850"/>
            <a:ext cx="3543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CA5CC5-8781-4500-B5F7-26AB47DE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600200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payment-service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19274-4B30-40A8-8D9A-9D292CCE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905000"/>
            <a:ext cx="320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Role: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Payment orders and transaction lifecycle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Payout hold / release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Refunds, webhooks, wallet events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Runtime: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PAYMENT_DB_URL, PAYMENT_DB_USERNAME, PAYMENT_DB_PASSWORD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Internal service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SRE notes: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Payment can place payout ON_HOLD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Acceptance can release payout eligibility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Wallet events come from this service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93CF8-E800-4072-9784-DB8248D9B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66850"/>
            <a:ext cx="35433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B829C4-A0F6-4888-83E0-B707EB5A7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600200"/>
            <a:ext cx="32004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wallet-service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CD610E-5A96-41B0-ACDA-6A4FB24D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05000"/>
            <a:ext cx="320040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Role: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Ledger projection and balance snapshots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Idempotent event inbox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Read model for customer/provider activity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Runtime: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WALLET_DB_URL, WALLET_DB_USERNAME, WALLET_DB_PASSWORD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Internal service token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SRE notes: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Wallet does not move real money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It should never call Stripe or release funds</a:t>
            </a:r>
          </a:p>
          <a:p xmlns:a="http://schemas.openxmlformats.org/drawingml/2006/main">
            <a:pPr>
              <a:defRPr sz="915">
                <a:solidFill>
                  <a:srgbClr val="111111"/>
                </a:solidFill>
              </a:defRPr>
            </a:pPr>
            <a:r>
              <a:rPr sz="915">
                <a:solidFill>
                  <a:srgbClr val="111111"/>
                </a:solidFill>
              </a:rPr>
              <a:t>- Deduplicate events before projecting balances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E72E3-3487-44AD-85FE-ED944AB0C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33900"/>
            <a:ext cx="109728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7C7BF-6500-42E7-A7C1-69BF0AD2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72440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The clean mental model: marketplace owns intent and order state, payment owns money-moving state, and wallet owns the readable history of what happened. That separation keeps transaction logic and user-facing account summaries from leaking into each other.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6F553CC-43EC-44F4-A1B1-4956A059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93297E8-1E39-4734-8E7B-3D21BD6AC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Commerce detail: project the ledger, do not confuse it with the source of truth.</a:t>
            </a:r>
          </a:p>
        </p:txBody>
      </p:sp>
    </p:spTree>
    <p:extLst>
      <p:ext uri="{BB962C8B-B14F-4D97-AF65-F5344CB8AC3E}">
        <p14:creationId xmlns:p14="http://schemas.microsoft.com/office/powerpoint/2010/main" val="8464922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0B01E9C-0D03-49F3-92D6-EAE29116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Client experience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9D2DC5-A5F0-4F4F-B384-735B6CB17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Sharity UI and the browser integration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F77029-6B0F-4935-9715-50474F14F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The same app code supports native and web, but web uses the BFF path for secure 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BDD9A0-3E66-47B3-A555-C6BD7697E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74DD8-0F9E-4D1C-A1C7-BBF818ED5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52197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7163F8-1D8C-49B4-96FE-AA59C91E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Sharity UI responsibilities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743E30-77D7-4555-94A5-E1E558531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48768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• Present the shopping and account experience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• Call backend services only through approved paths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• Keep theme and wrapper components centralized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• Show safe loading, error, and retry states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Example screens: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- Login and account recovery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- Marketplace home and product details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- Checkout and payment success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- Orders, wallet history, and profile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04755-9B87-4855-80BF-69CEE3FB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466850"/>
            <a:ext cx="5143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14D3E1-31EF-45F3-BFFC-7C714C9F1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00200"/>
            <a:ext cx="4800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What SRE should verify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ABDBE6-D96A-4C30-AD96-6E6C9AB5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905000"/>
            <a:ext cx="48006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• Web requests land on /app/ and /bff/ through Nginx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• Login redirects return to the BFF callback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• Session cookie is set with secure attributes in prod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• Marketplace and payment smoke tests succeed after login</a:t>
            </a:r>
          </a:p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• Wallet summary reflects payment events after checkout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EC6239-368E-4C67-A8D7-224E757E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BF8FEB-10A7-447B-9778-6C191645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72000"/>
            <a:ext cx="105727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For the web path, the app should never depend on browser-accessible OAuth tokens. If a developer needs to troubleshoot, the first check is whether the session cookie exists and whether the BFF can still reach the authorization server and backend services.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8A13CC-A7C8-4BB7-9052-87A93B6D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DC91BC-2F0F-41DC-BEAB-ADD5FDE23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UI detail: keep the browser thin and the BFF authoritative.</a:t>
            </a:r>
          </a:p>
        </p:txBody>
      </p:sp>
    </p:spTree>
    <p:extLst>
      <p:ext uri="{BB962C8B-B14F-4D97-AF65-F5344CB8AC3E}">
        <p14:creationId xmlns:p14="http://schemas.microsoft.com/office/powerpoint/2010/main" val="13177028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902C370-35BA-4DD3-934A-CABA4F892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SRE setup matrix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4EA410-105D-4B90-9E1C-30FDC718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Service inventory and runtime contract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F197AB-DC03-43CD-85AD-F66DEA6D7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The goal is to remove hard-coded settings and make the runtime come from GitHub environment variables or deployment secrets.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1735C-F00B-4B51-9A70-1B3FE5FAE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graphicFrame>
        <p:nvGraphicFramePr>
          <p:cNvPr id="16" name=""/>
          <p:cNvGraphicFramePr/>
          <p:nvPr/>
        </p:nvGraphicFramePr>
        <p:xfrm>
          <a:off xmlns:a="http://schemas.openxmlformats.org/drawingml/2006/main" x="609600" y="1466850"/>
          <a:ext xmlns:a="http://schemas.openxmlformats.org/drawingml/2006/main" cx="10972800" cy="3905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4095750"/>
                <a:gridCol w="1809750"/>
                <a:gridCol w="2381250"/>
              </a:tblGrid>
              <a:tr h="650875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What it owns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Local port / route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111111"/>
                          </a:solidFill>
                        </a:rPr>
                        <a:t>Key env vars</a:t>
                      </a:r>
                    </a:p>
                  </a:txBody>
                  <a:tcPr marL="91440" marR="91440" marT="45720" marB="45720">
                    <a:solidFill>
                      <a:srgbClr val="E8EEF5"/>
                    </a:solidFill>
                  </a:tcPr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authorization-server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Login, JWT issuer, provider eligibility, module catalog, admin APIs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8083 /authorization-server/api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AUTH_DB_URL, AUTH_DB_USERNAME, AUTH_DB_PASSWORD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platform-web-bff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Browser session, OAuth redirect, authenticated proxying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9090 local, 8080 prod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SHARITY_WEB_BFF_CLIENT_ID, SHARITY_WEB_BFF_CLIENT_SECRET, AUTH_SERVER_BASE_URL, BFF_SESSION_COOKIE_SECURE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marketplace-service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Catalog, search, product detail, checkout, orders, delivery, disputes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8084 /marketplace-service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MARKETPLACE_DB_URL, MARKETPLACE_DB_USERNAME, MARKETPLACE_DB_PASSWORD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payment-service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Payment orders, payout hold/release, refunds, webhooks, wallet events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8085 /payment-service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PAYMENT_DB_URL, PAYMENT_DB_USERNAME, PAYMENT_DB_PASSWORD</a:t>
                      </a:r>
                    </a:p>
                  </a:txBody>
                  <a:tcPr marL="91440" marR="91440" marT="45720" marB="45720"/>
                </a:tc>
              </a:tr>
              <a:tr h="650875"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wallet-service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Ledger projection, balance snapshots, idempotent inbox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8086 /wallet-service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938">
                          <a:solidFill>
                            <a:srgbClr val="111111"/>
                          </a:solidFill>
                        </a:rPr>
                        <a:t>WALLET_DB_URL, WALLET_DB_USERNAME, WALLET_DB_PASSWORD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BE8D93-BC87-42C7-8B03-7FFA68C8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55245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9AA7DB-E6B9-4714-9B00-E6C496A54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62600"/>
            <a:ext cx="5181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Why this matters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C60BBE-981B-4190-9877-ED63FD39C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5181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Every service should read its datasource, OAuth, and proxy settings from the environment. That makes local dev, GitHub Actions, and production use the same code path.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901F9E-0278-4F92-9B4C-59B4A8EAA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29250"/>
            <a:ext cx="5219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45D75-623D-4902-87C2-2AEF7658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562600"/>
            <a:ext cx="4876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Important rule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2B8170-B324-48F5-A940-A80B6481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867400"/>
            <a:ext cx="4876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Do not hard-code credentials or callback URLs in YAML. The earlier repository fixes moved the service-specific datasource settings to env vars for exactly this reason.</a:t>
            </a:r>
          </a:p>
        </p:txBody>
      </p:sp>
    </p:spTree>
    <p:extLst>
      <p:ext uri="{BB962C8B-B14F-4D97-AF65-F5344CB8AC3E}">
        <p14:creationId xmlns:p14="http://schemas.microsoft.com/office/powerpoint/2010/main" val="75826473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527865-AE55-42E2-9FD6-34CC62FB9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SRE checklist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BDD694-0C3B-4B7F-967C-E3F4E02F1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How to bootstrap the stack cleanly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7C372C-357A-420D-A488-DCF5CB121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This is the shortest useful runbook for local, QA, or production-style validation.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8DA350-A7FC-4FEA-B65B-B9138399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96B4889-8942-4D50-B7FC-FF941867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31FE24-2B99-4925-9A84-97079BEB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1. Provision databases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3543B0-B27E-41F9-BB14-9360A579A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562100"/>
            <a:ext cx="802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Create or point to auth_db, marketplace_db, payment_db, and wallet_db. Confirm credentials and migrations before booting services.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E379A-2206-41F1-A13C-B86EB8F7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8F9363-8DA4-4E2C-BCAD-FD3268F5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2. Set secrets and env vars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1FD73F-E69F-43A1-B4B2-E7FB45523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286000"/>
            <a:ext cx="802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Provide datasource URLs/usernames/passwords, OAuth client values, JWT key paths, base URLs, and internal service tokens from GitHub env vars or deployment secrets.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800CFF-53AB-481B-85B2-8D983A88E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146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680FB-0EC0-4050-A8BB-9A18C6D03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099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3. Start the auth boundary first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43F0545-067D-48AA-AF9A-FE9BEE3B3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009900"/>
            <a:ext cx="802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Bring up authorization-server so the remaining services can verify JWTs and the BFF can complete OAuth/OIDC login.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24299A9-E194-4128-AFF6-0F1D0F4C5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7539F6E-6486-45F2-8C9B-72490C9B6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338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4. Start marketplace, payment, and wallet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32BC66-B36F-44EB-A0AF-2057DB424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733800"/>
            <a:ext cx="802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Boot the commerce services after auth is healthy. Each one should connect to its own DB and verify the auth-server key or token contract.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E527BF-BAB8-4BE2-97EA-D647D0B92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624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63BF54-BD17-4024-957A-FA0F36D5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5. Start the BFF and Nginx routing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7B0493-4F47-4384-9DFA-A6E319C31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457700"/>
            <a:ext cx="802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Confirm /app/, /bff/, and OAuth callback paths are routed correctly, then open the browser flow through the BFF.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F3DAE9-D8BF-4D7D-9A3A-4E07FF910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2D0B9-2338-4B18-BEAE-D9050FE6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81600"/>
            <a:ext cx="2476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6. Smoke test the full flow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C790C3-F87B-4AE8-86DE-BC282A14E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5181600"/>
            <a:ext cx="802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Log in, load the marketplace, create an order, pay, and confirm the wallet projection. Stop if any callback, cookie, or event step fails.</a:t>
            </a:r>
          </a:p>
        </p:txBody>
      </p:sp>
    </p:spTree>
    <p:extLst>
      <p:ext uri="{BB962C8B-B14F-4D97-AF65-F5344CB8AC3E}">
        <p14:creationId xmlns:p14="http://schemas.microsoft.com/office/powerpoint/2010/main" val="181929910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A6DABC-A674-4C4F-814E-06B4ACB4D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Worked example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EF8C165-AFA9-4C26-87FB-FE0353E48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One end-to-end customer journey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548462-137E-4BCB-BF09-7388EAFD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Use this story to explain the system to a new engineer or SRE.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7EA9AF-0467-4A99-93B5-BB460388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FA5F73-4170-4CA8-A926-0C71E9F78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E9F2C4-7DA0-4C79-81A6-420D3A3B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62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Login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BFDD80-1491-4958-B6E0-652A92C3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15621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User opens Sharity UI, clicks sign in, and the BFF sends them to the authorization server.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94725C-2389-44E5-A22A-27937383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4ED261-3621-4A5F-A37F-4AAD8175C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Browse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FA001A-BB43-485C-9FD9-DA0B6CC0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1717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Marketplace returns listings, categories, and product details through the authenticated proxy path.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61BD79-FE7E-4061-AC1C-E4807B8D7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596FCA-9BCD-468D-8DC3-727DCFA9A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Checkout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42DAA-0FDF-4BA6-813B-A73049FC4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27813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Marketplace creates the order and asks payment-service to create the transaction.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DECB49-922A-4147-86F7-9722B525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956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7D4991-7E2F-4F15-B371-83A407E8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909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Pay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CD4F305-F29A-499F-9F3C-219BC6653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33909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Payment-service places the payout ON_HOLD and captures or verifies the buyer transaction.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58D361-50F9-4E2B-9776-A3FF0B2A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052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BA990F-C43E-4ABE-B3C3-462144FF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005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Project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BE29CD-C67A-4F08-8D42-F944E6CE3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0005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Payment-service emits wallet events; wallet-service deduplicates and updates the ledger.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65B150-A840-49AA-99D8-BEA8A9AB6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14850"/>
            <a:ext cx="1097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5D257BF-1466-445B-918D-F0F01673D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1238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Settle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9904E8-F9B8-4691-A3B5-8DD35961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350" y="4610100"/>
            <a:ext cx="933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If the seller is eligible and acceptance succeeds, payout release can proceed inside payment.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A5F2A7-6213-4FE2-A76D-42E6C0FF2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EDC839-3A6F-4E95-91E9-BEED67E0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467350"/>
            <a:ext cx="1057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111111"/>
                </a:solidFill>
              </a:defRPr>
            </a:pPr>
            <a:r>
              <a:rPr sz="1200">
                <a:solidFill>
                  <a:srgbClr val="111111"/>
                </a:solidFill>
              </a:rPr>
              <a:t>If any step breaks, narrow the fault domain: callback and cookie for login, proxy and JWT for reads, payment and webhook handling for checkout, inbox dedupe for wallet updates.</a:t>
            </a:r>
          </a:p>
        </p:txBody>
      </p:sp>
    </p:spTree>
    <p:extLst>
      <p:ext uri="{BB962C8B-B14F-4D97-AF65-F5344CB8AC3E}">
        <p14:creationId xmlns:p14="http://schemas.microsoft.com/office/powerpoint/2010/main" val="106324146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B2132AC-AF4D-4C71-AE11-F94FE7A7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Operations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A445AF-129F-48BC-B655-681C43366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Common checks and failure clues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B81F69-C423-447F-BFD0-9BB417299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Short diagnostic questions keep the first response fast.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2E2B66-C11D-4710-B471-B855F305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F8963A-87BF-4CC0-B371-F66A2FA90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DE5B09-C1FB-40AA-B401-F0D57D098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811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Login loop or blank session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395BAE-4461-42D5-A13F-F881223AC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5811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Check BFF callback URL, client secret, and whether SHARITY_SESSION is being set with the correct Secure/SameSite flags.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27920D-FB2B-4B0A-AB59-D4F3B1CC8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46045-7B64-4D0F-AC6B-A61CEA239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574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401 from backend calls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8A0DB1-E35D-446D-BBA3-CC1A0484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574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Check JWT issuer/public key alignment, the BFF proxy target, and whether the service sees the auth-server token as valid.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8D3ADD-92F3-467C-A0C9-B8DF7FE3E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194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A484F9-8089-402F-A86E-36E24BF5E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337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Checkout creates order but no payment event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97AC73-1E4C-4DCD-8AB8-EC6CF2D6B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3337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Check payment-service logs, the internal service token, and the webhook/event emitter path.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8D1DE9-9E73-4302-A7DE-C370D4F61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6ECF5C-48B9-43D0-8B11-132B7AFD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Wallet does not update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6C5C65A-99EB-4EAE-831E-10EB6667E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210050"/>
            <a:ext cx="819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38">
                <a:solidFill>
                  <a:srgbClr val="666666"/>
                </a:solidFill>
              </a:defRPr>
            </a:pPr>
            <a:r>
              <a:rPr sz="938">
                <a:solidFill>
                  <a:srgbClr val="666666"/>
                </a:solidFill>
              </a:rPr>
              <a:t>Check event inbox dedupe, payment-service emission, and the wallet database connection.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9D439C-FFE7-458C-83B8-44484C78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24400"/>
            <a:ext cx="109728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5FF403-B736-4A4A-98BE-9193696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14900"/>
            <a:ext cx="10572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111"/>
                </a:solidFill>
              </a:defRPr>
            </a:pPr>
            <a:r>
              <a:rPr sz="1275">
                <a:solidFill>
                  <a:srgbClr val="111111"/>
                </a:solidFill>
              </a:rPr>
              <a:t>Logging checklist: authorization-server for JWT and login events, marketplace for order and delivery events, payment-service for payout and webhook events, wallet-service for inbox and ledger updates, and BFF for proxy and callback troubleshooting.</a:t>
            </a:r>
          </a:p>
        </p:txBody>
      </p:sp>
    </p:spTree>
    <p:extLst>
      <p:ext uri="{BB962C8B-B14F-4D97-AF65-F5344CB8AC3E}">
        <p14:creationId xmlns:p14="http://schemas.microsoft.com/office/powerpoint/2010/main" val="17927207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FD0812-D3BE-4F52-B40A-E39BD3934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81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 b="1">
                <a:solidFill>
                  <a:srgbClr val="666666"/>
                </a:solidFill>
              </a:defRPr>
            </a:pPr>
            <a:r>
              <a:rPr sz="900" b="1">
                <a:solidFill>
                  <a:srgbClr val="666666"/>
                </a:solidFill>
              </a:rPr>
              <a:t>Summary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B40189-6C1F-4873-9B55-D8EFE0250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9334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11111"/>
                </a:solidFill>
              </a:defRPr>
            </a:pPr>
            <a:r>
              <a:rPr sz="3000" b="1">
                <a:solidFill>
                  <a:srgbClr val="111111"/>
                </a:solidFill>
              </a:rPr>
              <a:t>What the stack is built to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52E576-EF02-4C6E-9D1A-F83347A1E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</a:defRPr>
            </a:pPr>
            <a:r>
              <a:rPr sz="1350">
                <a:solidFill>
                  <a:srgbClr val="666666"/>
                </a:solidFill>
              </a:rPr>
              <a:t>The design keeps browser secrets out of the client and keeps money movement separate from readable wallet history.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F50B1-C331-4ADF-B483-7DFAEB075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AA6ACF-EB05-45BF-A8E0-29243870A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66850"/>
            <a:ext cx="335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52FFF68-6FFB-40F1-9CB0-1B3AD0A6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002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1. Secure browser access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9241FC-FFC2-493B-85E6-AD907405F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300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The BFF owns the browser session, and the authorization server owns the login system.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B0CB71-B1D2-4A49-A604-2E0B1BE7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466850"/>
            <a:ext cx="335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3F6EAA-67DA-4A24-9615-FF9BA697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002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2. Clear service boundaries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A19ADF3-D755-4A3E-8944-92DC41E1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905000"/>
            <a:ext cx="300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Marketplace owns shopping intent, payment owns transactions, and wallet owns the projected ledger.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CB77B5-85E0-494C-AE6E-B80CEBBE7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466850"/>
            <a:ext cx="335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34CAF2-1070-41AD-9C4E-33336974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600200"/>
            <a:ext cx="3009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11111"/>
                </a:solidFill>
              </a:defRPr>
            </a:pPr>
            <a:r>
              <a:rPr sz="1350" b="1">
                <a:solidFill>
                  <a:srgbClr val="111111"/>
                </a:solidFill>
              </a:rPr>
              <a:t>3. Easy SRE setup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9CFD85-CAF0-4310-AFA8-B1FC45FA0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05000"/>
            <a:ext cx="30099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111111"/>
                </a:solidFill>
              </a:defRPr>
            </a:pPr>
            <a:r>
              <a:rPr sz="1050">
                <a:solidFill>
                  <a:srgbClr val="111111"/>
                </a:solidFill>
              </a:rPr>
              <a:t>Every runtime setting should come from env vars or deployment secrets, not from hard-coded properties.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A2747A-FBED-4AC4-A77D-559AE73F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72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1F5"/>
          </a:solidFill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784768-6AFF-40B2-9E94-407CD4375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19600"/>
            <a:ext cx="105537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111"/>
                </a:solidFill>
              </a:defRPr>
            </a:pPr>
            <a:r>
              <a:rPr sz="1350">
                <a:solidFill>
                  <a:srgbClr val="111111"/>
                </a:solidFill>
              </a:rPr>
              <a:t>If you want, the same outline can be turned into a longer training deck, a speaker-notes version, or a version tailored to deployment tooling and CI/CD. For this first pass, the focus is on a clear operating model that a new SRE can use immediately.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248E5-BAF3-474B-98DC-0DA12ECCB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7DCE3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F385EB-6BB1-4B77-95BF-3122AC990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857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666666"/>
                </a:solidFill>
              </a:defRPr>
            </a:pPr>
            <a:r>
              <a:rPr sz="750">
                <a:solidFill>
                  <a:srgbClr val="666666"/>
                </a:solidFill>
              </a:rPr>
              <a:t>Summary: secure the browser, isolate payment, and project the wallet.</a:t>
            </a:r>
          </a:p>
        </p:txBody>
      </p:sp>
    </p:spTree>
    <p:extLst>
      <p:ext uri="{BB962C8B-B14F-4D97-AF65-F5344CB8AC3E}">
        <p14:creationId xmlns:p14="http://schemas.microsoft.com/office/powerpoint/2010/main" val="16345208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2026-06-29T04:39:05.0920000Z</dcterms:created>
  <dcterms:modified xsi:type="dcterms:W3CDTF">2026-06-29T04:39:05.0920000Z</dcterms:modified>
</coreProperties>
</file>